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4"/>
    <p:sldMasterId id="2147483688" r:id="rId5"/>
  </p:sldMasterIdLst>
  <p:notesMasterIdLst>
    <p:notesMasterId r:id="rId16"/>
  </p:notesMasterIdLst>
  <p:handoutMasterIdLst>
    <p:handoutMasterId r:id="rId17"/>
  </p:handoutMasterIdLst>
  <p:sldIdLst>
    <p:sldId id="256" r:id="rId6"/>
    <p:sldId id="257" r:id="rId15"/>
    <p:sldId id="258" r:id="rId14"/>
    <p:sldId id="259" r:id="rId13"/>
    <p:sldId id="260" r:id="rId12"/>
  </p:sldIdLst>
  <p:sldSz cx="9144000" cy="6858000" type="screen4x3"/>
  <p:notesSz cx="6797675" cy="9928225"/>
  <p:defaultTextStyle>
    <a:defPPr>
      <a:defRPr lang="fr-F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mar KHEIRBEK" initials="AK" lastIdx="1" clrIdx="0">
    <p:extLst>
      <p:ext uri="{19B8F6BF-5375-455C-9EA6-DF929625EA0E}">
        <p15:presenceInfo xmlns:p15="http://schemas.microsoft.com/office/powerpoint/2012/main" userId="S::akheirbek@isep.fr::9ab59323-4d05-435f-b55b-0688b1af42a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A1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E19A5-26D2-9957-6534-F5AD3F70968C}" v="2" dt="2026-03-23T17:44:38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1187" autoAdjust="0"/>
  </p:normalViewPr>
  <p:slideViewPr>
    <p:cSldViewPr snapToGrid="0">
      <p:cViewPr varScale="1">
        <p:scale>
          <a:sx n="144" d="100"/>
          <a:sy n="144" d="100"/>
        </p:scale>
        <p:origin x="2128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2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>
        <p:guide orient="horz" pos="3127"/>
        <p:guide pos="2141"/>
      </p:guideLst>
    </p:cSldViewPr>
  </p:notesViewPr>
  <p:gridSpacing cx="719999" cy="71999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Relationship Id="rId2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anzhe LI" userId="S::yuli64336@eleve.isep.fr::7d14a10e-9673-48ca-85de-015e6f112654" providerId="AD" clId="Web-{886E19A5-26D2-9957-6534-F5AD3F70968C}"/>
    <pc:docChg chg="modSld">
      <pc:chgData name="Yuanzhe LI" userId="S::yuli64336@eleve.isep.fr::7d14a10e-9673-48ca-85de-015e6f112654" providerId="AD" clId="Web-{886E19A5-26D2-9957-6534-F5AD3F70968C}" dt="2026-03-23T17:44:38.298" v="1" actId="20577"/>
      <pc:docMkLst>
        <pc:docMk/>
      </pc:docMkLst>
      <pc:sldChg chg="modSp">
        <pc:chgData name="Yuanzhe LI" userId="S::yuli64336@eleve.isep.fr::7d14a10e-9673-48ca-85de-015e6f112654" providerId="AD" clId="Web-{886E19A5-26D2-9957-6534-F5AD3F70968C}" dt="2026-03-23T17:44:38.298" v="1" actId="20577"/>
        <pc:sldMkLst>
          <pc:docMk/>
          <pc:sldMk cId="4183462262" sldId="998"/>
        </pc:sldMkLst>
        <pc:spChg chg="mod">
          <ac:chgData name="Yuanzhe LI" userId="S::yuli64336@eleve.isep.fr::7d14a10e-9673-48ca-85de-015e6f112654" providerId="AD" clId="Web-{886E19A5-26D2-9957-6534-F5AD3F70968C}" dt="2026-03-23T17:44:38.298" v="1" actId="20577"/>
          <ac:spMkLst>
            <pc:docMk/>
            <pc:sldMk cId="4183462262" sldId="998"/>
            <ac:spMk id="3" creationId="{6133E570-446B-B029-AB8A-44DB089CB2B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BF823-0249-4D28-9B32-DA80F949F272}" type="datetimeFigureOut">
              <a:rPr lang="fr-FR" smtClean="0">
                <a:latin typeface="Century Gothic" panose="020B0502020202020204" pitchFamily="34" charset="0"/>
              </a:rPr>
              <a:t>23/03/2026</a:t>
            </a:fld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52623-6025-486A-8C34-5493AC02254D}" type="slidenum">
              <a:rPr lang="fr-FR" smtClean="0">
                <a:latin typeface="Century Gothic" panose="020B0502020202020204" pitchFamily="34" charset="0"/>
              </a:rPr>
              <a:t>‹#›</a:t>
            </a:fld>
            <a:endParaRPr lang="fr-FR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794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EC695B67-2576-403F-B11A-C32C854B9BC7}" type="datetimeFigureOut">
              <a:rPr lang="fr-FR" smtClean="0"/>
              <a:pPr/>
              <a:t>23/03/2026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2DB98611-F957-4B4F-8646-94936A2091C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0031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98611-F957-4B4F-8646-94936A2091CB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26153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07467" y="2492374"/>
            <a:ext cx="4185708" cy="1116013"/>
          </a:xfrm>
          <a:prstGeom prst="rect">
            <a:avLst/>
          </a:prstGeom>
        </p:spPr>
        <p:txBody>
          <a:bodyPr anchor="b" anchorCtr="0"/>
          <a:lstStyle>
            <a:lvl1pPr algn="l">
              <a:defRPr u="none">
                <a:solidFill>
                  <a:srgbClr val="0061A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56" y="5731933"/>
            <a:ext cx="2230420" cy="9403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3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8606" y="368300"/>
            <a:ext cx="8614172" cy="684000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Table of contents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30001" y="2492375"/>
            <a:ext cx="6462778" cy="3116651"/>
          </a:xfr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  <a:lvl2pPr marL="0" marR="0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>
                <a:solidFill>
                  <a:srgbClr val="0061A1"/>
                </a:solidFill>
              </a:defRPr>
            </a:lvl2pPr>
          </a:lstStyle>
          <a:p>
            <a:pPr lvl="1"/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1477" y="6303176"/>
            <a:ext cx="1428524" cy="360000"/>
          </a:xfrm>
        </p:spPr>
        <p:txBody>
          <a:bodyPr/>
          <a:lstStyle/>
          <a:p>
            <a:r>
              <a:rPr lang="fr-FR"/>
              <a:t>02/03/2015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75FB-55A1-49FD-BB5D-E3FF8FAE849B}" type="slidenum">
              <a:rPr lang="fr-FR" smtClean="0"/>
              <a:t>‹#›</a:t>
            </a:fld>
            <a:endParaRPr lang="fr-FR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2121694" y="2492375"/>
            <a:ext cx="11906" cy="3116651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30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" y="368300"/>
            <a:ext cx="8610269" cy="716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400" y="2492374"/>
            <a:ext cx="8613775" cy="11160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4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7"/>
            <a:ext cx="8610268" cy="77114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1980000"/>
            <a:ext cx="8604000" cy="39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67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300"/>
            <a:ext cx="8610268" cy="6827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400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/>
          </p:nvPr>
        </p:nvSpPr>
        <p:spPr>
          <a:xfrm>
            <a:off x="4825175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4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298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400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9400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2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4825175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4825175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9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1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9" y="368300"/>
            <a:ext cx="8610269" cy="6840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72000" y="1979999"/>
            <a:ext cx="4321175" cy="385353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399" y="1980000"/>
            <a:ext cx="3979334" cy="3853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85533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3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8" y="368300"/>
            <a:ext cx="8610269" cy="684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1980000"/>
            <a:ext cx="4321175" cy="38198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400" y="1980000"/>
            <a:ext cx="4292598" cy="38198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97175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7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6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399" y="1980000"/>
            <a:ext cx="8613775" cy="35798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0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3838" y="365125"/>
            <a:ext cx="923925" cy="5231342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401" y="368300"/>
            <a:ext cx="7190106" cy="52281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68600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5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s Site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0" y="368300"/>
            <a:ext cx="1080000" cy="108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71" y="5589088"/>
            <a:ext cx="6394514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8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07467" y="2492374"/>
            <a:ext cx="4185708" cy="1116013"/>
          </a:xfrm>
          <a:prstGeom prst="rect">
            <a:avLst/>
          </a:prstGeom>
        </p:spPr>
        <p:txBody>
          <a:bodyPr anchor="b" anchorCtr="0"/>
          <a:lstStyle>
            <a:lvl1pPr algn="l">
              <a:defRPr u="none">
                <a:solidFill>
                  <a:srgbClr val="0061A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06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8606" y="368300"/>
            <a:ext cx="8614172" cy="684000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Table of contents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30001" y="2492375"/>
            <a:ext cx="6462778" cy="3116651"/>
          </a:xfr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  <a:lvl2pPr marL="0" marR="0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>
                <a:solidFill>
                  <a:srgbClr val="0061A1"/>
                </a:solidFill>
              </a:defRPr>
            </a:lvl2pPr>
          </a:lstStyle>
          <a:p>
            <a:pPr lvl="1"/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  <a:p>
            <a:pPr marL="0" marR="0" lvl="1" indent="0" algn="l" defTabSz="592216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4"/>
              </a:buClr>
              <a:buSzTx/>
              <a:buFontTx/>
              <a:buNone/>
              <a:tabLst/>
              <a:defRPr/>
            </a:pPr>
            <a:r>
              <a:rPr lang="en-US" dirty="0"/>
              <a:t>Section title 	P. 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1477" y="6303176"/>
            <a:ext cx="1428524" cy="360000"/>
          </a:xfrm>
        </p:spPr>
        <p:txBody>
          <a:bodyPr/>
          <a:lstStyle/>
          <a:p>
            <a:r>
              <a:rPr lang="fr-FR"/>
              <a:t>02/03/2015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75FB-55A1-49FD-BB5D-E3FF8FAE849B}" type="slidenum">
              <a:rPr lang="fr-FR" smtClean="0"/>
              <a:t>‹#›</a:t>
            </a:fld>
            <a:endParaRPr lang="fr-FR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2121694" y="2492375"/>
            <a:ext cx="11906" cy="3116651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2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399" y="368300"/>
            <a:ext cx="8610269" cy="716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9400" y="2492374"/>
            <a:ext cx="8613775" cy="11160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2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7"/>
            <a:ext cx="8610268" cy="77114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1980000"/>
            <a:ext cx="8604000" cy="39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1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300"/>
            <a:ext cx="8610268" cy="68273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9400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/>
          </p:nvPr>
        </p:nvSpPr>
        <p:spPr>
          <a:xfrm>
            <a:off x="4825175" y="1980000"/>
            <a:ext cx="4068000" cy="381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3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8298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9400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9400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2"/>
          </p:nvPr>
        </p:nvSpPr>
        <p:spPr>
          <a:xfrm>
            <a:off x="968599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4825175" y="1980000"/>
            <a:ext cx="4068000" cy="823912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4825175" y="2987999"/>
            <a:ext cx="4068000" cy="2844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23" y="368300"/>
            <a:ext cx="684000" cy="68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273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9" y="368300"/>
            <a:ext cx="8610269" cy="684000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572000" y="1979999"/>
            <a:ext cx="4321175" cy="385353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399" y="1980000"/>
            <a:ext cx="3979334" cy="3853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85533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8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398" y="368300"/>
            <a:ext cx="8610269" cy="684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1980000"/>
            <a:ext cx="4321175" cy="38198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9400" y="1980000"/>
            <a:ext cx="4292598" cy="38198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997175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6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365126"/>
            <a:ext cx="8610268" cy="68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399" y="1980000"/>
            <a:ext cx="8613775" cy="35798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4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3837" y="365125"/>
            <a:ext cx="923925" cy="5231342"/>
          </a:xfrm>
          <a:prstGeom prst="rect">
            <a:avLst/>
          </a:prstGeo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9400" y="368300"/>
            <a:ext cx="7381282" cy="52281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377" rtl="0" eaLnBrk="1" latinLnBrk="0" hangingPunct="1">
              <a:defRPr sz="1200" kern="1200">
                <a:solidFill>
                  <a:schemeClr val="accent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968600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02/03/2015</a:t>
            </a:r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760" y="5988264"/>
            <a:ext cx="1622415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5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Site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0" y="368300"/>
            <a:ext cx="1080000" cy="1080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071" y="5589088"/>
            <a:ext cx="6394514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6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1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5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9400" y="371476"/>
            <a:ext cx="8603361" cy="68082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287999" y="1980000"/>
            <a:ext cx="8604000" cy="38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927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75" r:id="rId3"/>
    <p:sldLayoutId id="2147483676" r:id="rId4"/>
    <p:sldLayoutId id="2147483678" r:id="rId5"/>
    <p:sldLayoutId id="2147483679" r:id="rId6"/>
    <p:sldLayoutId id="2147483681" r:id="rId7"/>
    <p:sldLayoutId id="2147483683" r:id="rId8"/>
    <p:sldLayoutId id="2147483682" r:id="rId9"/>
    <p:sldLayoutId id="2147483684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61A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4A1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602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orient="horz" pos="1570" userDrawn="1">
          <p15:clr>
            <a:srgbClr val="F26B43"/>
          </p15:clr>
        </p15:guide>
        <p15:guide id="8" orient="horz" pos="290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400" y="6312264"/>
            <a:ext cx="540000" cy="360000"/>
          </a:xfrm>
          <a:prstGeom prst="rect">
            <a:avLst/>
          </a:prstGeom>
          <a:ln w="6350" cap="rnd" cmpd="sng">
            <a:solidFill>
              <a:schemeClr val="accent1"/>
            </a:solidFill>
            <a:miter lim="800000"/>
          </a:ln>
          <a:effectLst>
            <a:softEdge rad="0"/>
          </a:effectLst>
        </p:spPr>
        <p:txBody>
          <a:bodyPr vert="horz" lIns="0" tIns="0" rIns="0" bIns="0" rtlCol="0" anchor="ctr"/>
          <a:lstStyle>
            <a:lvl1pPr algn="ctr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9A8875FB-55A1-49FD-BB5D-E3FF8FAE849B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77066" y="6303176"/>
            <a:ext cx="1428524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dirty="0"/>
              <a:t>02/03/2015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9400" y="371476"/>
            <a:ext cx="8603361" cy="68082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287999" y="1980000"/>
            <a:ext cx="8604000" cy="38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286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61A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4A1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4A1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>
          <p15:clr>
            <a:srgbClr val="F26B43"/>
          </p15:clr>
        </p15:guide>
        <p15:guide id="2" pos="2880">
          <p15:clr>
            <a:srgbClr val="F26B43"/>
          </p15:clr>
        </p15:guide>
        <p15:guide id="3" pos="176">
          <p15:clr>
            <a:srgbClr val="F26B43"/>
          </p15:clr>
        </p15:guide>
        <p15:guide id="4" orient="horz" pos="232">
          <p15:clr>
            <a:srgbClr val="F26B43"/>
          </p15:clr>
        </p15:guide>
        <p15:guide id="5" pos="5602">
          <p15:clr>
            <a:srgbClr val="F26B43"/>
          </p15:clr>
        </p15:guide>
        <p15:guide id="6" orient="horz" pos="4201">
          <p15:clr>
            <a:srgbClr val="F26B43"/>
          </p15:clr>
        </p15:guide>
        <p15:guide id="7" orient="horz" pos="1570">
          <p15:clr>
            <a:srgbClr val="F26B43"/>
          </p15:clr>
        </p15:guide>
        <p15:guide id="8" orient="horz" pos="290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7466" y="1428750"/>
            <a:ext cx="4427999" cy="2031588"/>
          </a:xfrm>
        </p:spPr>
        <p:txBody>
          <a:bodyPr>
            <a:normAutofit/>
          </a:bodyPr>
          <a:lstStyle/>
          <a:p>
            <a:r>
              <a:rPr sz="5400" b="1">
                <a:solidFill>
                  <a:srgbClr val="115AA0"/>
                </a:solidFill>
              </a:rPr>
              <a:t>Social Gate</a:t>
            </a:r>
            <a:endParaRPr lang="en-US" dirty="0"/>
          </a:p>
          <a:p>
            <a:r>
              <a:rPr sz="2400" b="0">
                <a:solidFill>
                  <a:srgbClr val="115AA0"/>
                </a:solidFill>
              </a:rPr>
              <a:t>Mid-Project Follow-Up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7466" y="3659190"/>
            <a:ext cx="4428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0AF7AE-434E-4642-9A9E-781575947C1D}"/>
              </a:ext>
            </a:extLst>
          </p:cNvPr>
          <p:cNvSpPr txBox="1"/>
          <p:nvPr/>
        </p:nvSpPr>
        <p:spPr>
          <a:xfrm>
            <a:off x="4707467" y="3964968"/>
            <a:ext cx="43755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0A030"/>
                </a:solidFill>
              </a:rPr>
              <a:t>BABOURI </a:t>
            </a:r>
            <a:r>
              <a:rPr sz="1600">
                <a:solidFill>
                  <a:srgbClr val="F0A030"/>
                </a:solidFill>
              </a:rPr>
              <a:t>Samy</a:t>
            </a:r>
          </a:p>
          <a:p>
            <a:r>
              <a:rPr sz="1600" b="1">
                <a:solidFill>
                  <a:srgbClr val="F0A030"/>
                </a:solidFill>
              </a:rPr>
              <a:t>JANGRA </a:t>
            </a:r>
            <a:r>
              <a:rPr sz="1600">
                <a:solidFill>
                  <a:srgbClr val="F0A030"/>
                </a:solidFill>
              </a:rPr>
              <a:t>Lalit</a:t>
            </a:r>
          </a:p>
          <a:p>
            <a:r>
              <a:rPr sz="1600" b="1">
                <a:solidFill>
                  <a:srgbClr val="F0A030"/>
                </a:solidFill>
              </a:rPr>
              <a:t>DO NASCIMENTO RODRIGUES BARBOSA </a:t>
            </a:r>
            <a:r>
              <a:rPr sz="1600">
                <a:solidFill>
                  <a:srgbClr val="F0A030"/>
                </a:solidFill>
              </a:rPr>
              <a:t>Helton</a:t>
            </a:r>
          </a:p>
          <a:p>
            <a:pPr>
              <a:spcBef>
                <a:spcPts val="1200"/>
              </a:spcBef>
            </a:pPr>
            <a:r>
              <a:rPr sz="1200" i="1">
                <a:solidFill>
                  <a:srgbClr val="115AA0"/>
                </a:solidFill>
              </a:rPr>
              <a:t>Mid-Project Follow-Up — May 2026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EB18C4-FF22-E1FD-3DE8-5353C7EC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972" y="186990"/>
            <a:ext cx="1032527" cy="104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4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5AA0"/>
                </a:solidFill>
              </a:rPr>
              <a:t>Status + Technical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400" y="1136273"/>
            <a:ext cx="7772400" cy="4500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9400" y="15000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8B57"/>
                </a:solidFill>
              </a:rPr>
              <a:t>Completed</a:t>
            </a:r>
          </a:p>
          <a:p>
            <a:r>
              <a:rPr sz="1300">
                <a:solidFill>
                  <a:srgbClr val="333333"/>
                </a:solidFill>
              </a:rPr>
              <a:t>✓ Module Login (back + front) end-to-end</a:t>
            </a:r>
          </a:p>
          <a:p>
            <a:r>
              <a:rPr sz="1300">
                <a:solidFill>
                  <a:srgbClr val="333333"/>
                </a:solidFill>
              </a:rPr>
              <a:t>✓ BST keyed by user_id (LAB 8) + hash maps (LAB 1)</a:t>
            </a:r>
          </a:p>
          <a:p>
            <a:r>
              <a:rPr sz="1300">
                <a:solidFill>
                  <a:srgbClr val="333333"/>
                </a:solidFill>
              </a:rPr>
              <a:t>✓ SHA-256 + per-user salt, constant-time check</a:t>
            </a:r>
          </a:p>
          <a:p>
            <a:r>
              <a:rPr sz="1300">
                <a:solidFill>
                  <a:srgbClr val="333333"/>
                </a:solidFill>
              </a:rPr>
              <a:t>✓ Sessions in hash map, HttpOnly cookies</a:t>
            </a:r>
          </a:p>
          <a:p>
            <a:r>
              <a:rPr sz="1300">
                <a:solidFill>
                  <a:srgbClr val="333333"/>
                </a:solidFill>
              </a:rPr>
              <a:t>✓ JSON persistence (Lecture 3 — type File)</a:t>
            </a:r>
          </a:p>
          <a:p>
            <a:r>
              <a:rPr sz="1300">
                <a:solidFill>
                  <a:srgbClr val="333333"/>
                </a:solidFill>
              </a:rPr>
              <a:t>✓ 31 unit tests + adversarial E2E (all green)</a:t>
            </a:r>
          </a:p>
          <a:p>
            <a:r>
              <a:rPr sz="1300">
                <a:solidFill>
                  <a:srgbClr val="333333"/>
                </a:solidFill>
              </a:rPr>
              <a:t>✓ Pseudo-code per Lecture 1 rules</a:t>
            </a:r>
          </a:p>
          <a:p>
            <a:r>
              <a:rPr sz="1300">
                <a:solidFill>
                  <a:srgbClr val="333333"/>
                </a:solidFill>
              </a:rPr>
              <a:t>✓ Repo &amp; PR workflow on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5000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5AA0"/>
                </a:solidFill>
              </a:rPr>
              <a:t>Planned vs. delivered</a:t>
            </a:r>
          </a:p>
          <a:p>
            <a:r>
              <a:rPr sz="1300">
                <a:solidFill>
                  <a:srgbClr val="333333"/>
                </a:solidFill>
              </a:rPr>
              <a:t>• Foundation: Login + persistence </a:t>
            </a:r>
            <a:r>
              <a:rPr sz="1100" i="1">
                <a:solidFill>
                  <a:srgbClr val="2E8B57"/>
                </a:solidFill>
              </a:rPr>
              <a:t>(delivered)</a:t>
            </a:r>
          </a:p>
          <a:p>
            <a:r>
              <a:rPr sz="1300">
                <a:solidFill>
                  <a:srgbClr val="333333"/>
                </a:solidFill>
              </a:rPr>
              <a:t>• Social graph (Lecture 8 / LAB 6) </a:t>
            </a:r>
            <a:r>
              <a:rPr sz="1100" i="1">
                <a:solidFill>
                  <a:srgbClr val="F0A030"/>
                </a:solidFill>
              </a:rPr>
              <a:t>(next)</a:t>
            </a:r>
          </a:p>
          <a:p>
            <a:r>
              <a:rPr sz="1300">
                <a:solidFill>
                  <a:srgbClr val="333333"/>
                </a:solidFill>
              </a:rPr>
              <a:t>• BFS friends-of-friends (LAB 6 ex.3) </a:t>
            </a:r>
            <a:r>
              <a:rPr sz="1100" i="1">
                <a:solidFill>
                  <a:srgbClr val="F0A030"/>
                </a:solidFill>
              </a:rPr>
              <a:t>(next)</a:t>
            </a:r>
          </a:p>
          <a:p>
            <a:r>
              <a:rPr sz="1300">
                <a:solidFill>
                  <a:srgbClr val="333333"/>
                </a:solidFill>
              </a:rPr>
              <a:t>• Timeline ranking (Lecture 9 — MergeSort) </a:t>
            </a:r>
            <a:r>
              <a:rPr sz="1100" i="1">
                <a:solidFill>
                  <a:srgbClr val="F0A030"/>
                </a:solidFill>
              </a:rPr>
              <a:t>(next)</a:t>
            </a:r>
          </a:p>
          <a:p>
            <a:r>
              <a:rPr sz="1300">
                <a:solidFill>
                  <a:srgbClr val="333333"/>
                </a:solidFill>
              </a:rPr>
              <a:t>• Friend suggestion (LAB 8 BST + LAB 6) </a:t>
            </a:r>
            <a:r>
              <a:rPr sz="1100" i="1">
                <a:solidFill>
                  <a:srgbClr val="F0A030"/>
                </a:solidFill>
              </a:rPr>
              <a:t>(next)</a:t>
            </a:r>
          </a:p>
          <a:p>
            <a:r>
              <a:rPr sz="1300">
                <a:solidFill>
                  <a:srgbClr val="333333"/>
                </a:solidFill>
              </a:rPr>
              <a:t>• Confidence threshold filter </a:t>
            </a:r>
            <a:r>
              <a:rPr sz="1100" i="1">
                <a:solidFill>
                  <a:srgbClr val="F0A030"/>
                </a:solidFill>
              </a:rPr>
              <a:t>(next)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15AA0"/>
                </a:solidFill>
              </a:rPr>
              <a:t>Overall progress: ~30 %</a:t>
            </a:r>
          </a:p>
          <a:p>
            <a:r>
              <a:rPr sz="1200" b="0">
                <a:solidFill>
                  <a:srgbClr val="333333"/>
                </a:solidFill>
              </a:rPr>
              <a:t>Foundation done: design → implementation has started.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5AA0"/>
                </a:solidFill>
              </a:rPr>
              <a:t>Demo —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400" y="1136273"/>
            <a:ext cx="7772400" cy="4500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500000"/>
            <a:ext cx="3931920" cy="1776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9400" y="3296470"/>
            <a:ext cx="3931920" cy="28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115AA0"/>
                </a:solidFill>
              </a:rPr>
              <a:t>Login form</a:t>
            </a:r>
          </a:p>
        </p:txBody>
      </p:sp>
      <p:pic>
        <p:nvPicPr>
          <p:cNvPr id="7" name="Picture 6" descr="register_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600" y="1500000"/>
            <a:ext cx="3931920" cy="2753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0600" y="4273528"/>
            <a:ext cx="3931920" cy="28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115AA0"/>
                </a:solidFill>
              </a:rPr>
              <a:t>Register form</a:t>
            </a:r>
          </a:p>
        </p:txBody>
      </p:sp>
      <p:pic>
        <p:nvPicPr>
          <p:cNvPr id="9" name="Picture 8" descr="home_logged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3700000"/>
            <a:ext cx="3931920" cy="18949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9400" y="5614901"/>
            <a:ext cx="3931920" cy="28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115AA0"/>
                </a:solidFill>
              </a:rPr>
              <a:t>Home / profile</a:t>
            </a:r>
          </a:p>
        </p:txBody>
      </p:sp>
      <p:pic>
        <p:nvPicPr>
          <p:cNvPr id="11" name="Picture 10" descr="login_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600" y="3700000"/>
            <a:ext cx="3931920" cy="18949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20600" y="5614901"/>
            <a:ext cx="3931920" cy="28000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100" i="1">
                <a:solidFill>
                  <a:srgbClr val="115AA0"/>
                </a:solidFill>
              </a:rPr>
              <a:t>Invalid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5AA0"/>
                </a:solidFill>
              </a:rPr>
              <a:t>Algorithms + One Key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400" y="1136273"/>
            <a:ext cx="7772400" cy="4500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9400" y="15000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15AA0"/>
                </a:solidFill>
              </a:rPr>
              <a:t>Algorithms implemented</a:t>
            </a:r>
          </a:p>
          <a:p>
            <a:r>
              <a:rPr sz="1300" b="1">
                <a:solidFill>
                  <a:srgbClr val="333333"/>
                </a:solidFill>
              </a:rPr>
              <a:t>• BST.search / insert / delete (Lecture 10)</a:t>
            </a:r>
          </a:p>
          <a:p>
            <a:r>
              <a:rPr sz="1100">
                <a:solidFill>
                  <a:srgbClr val="333333"/>
                </a:solidFill>
              </a:rPr>
              <a:t>   user_id key, iterative search, predecessor-replacement delete</a:t>
            </a:r>
          </a:p>
          <a:p>
            <a:r>
              <a:rPr sz="1300" b="1">
                <a:solidFill>
                  <a:srgbClr val="333333"/>
                </a:solidFill>
              </a:rPr>
              <a:t>• Password hash (SHA-256 + salt)</a:t>
            </a:r>
          </a:p>
          <a:p>
            <a:r>
              <a:rPr sz="1100">
                <a:solidFill>
                  <a:srgbClr val="333333"/>
                </a:solidFill>
              </a:rPr>
              <a:t>   constant-time verification (hmac.compare_digest)</a:t>
            </a:r>
          </a:p>
          <a:p>
            <a:r>
              <a:rPr sz="1300" b="1">
                <a:solidFill>
                  <a:srgbClr val="333333"/>
                </a:solidFill>
              </a:rPr>
              <a:t>• Hash-map session lookup (LAB 1 ex.6)</a:t>
            </a:r>
          </a:p>
          <a:p>
            <a:r>
              <a:rPr sz="1100">
                <a:solidFill>
                  <a:srgbClr val="333333"/>
                </a:solidFill>
              </a:rPr>
              <a:t>   username, email and token → user_id</a:t>
            </a:r>
          </a:p>
          <a:p>
            <a:r>
              <a:rPr sz="1300" b="1">
                <a:solidFill>
                  <a:srgbClr val="333333"/>
                </a:solidFill>
              </a:rPr>
              <a:t>• JSON load/save</a:t>
            </a:r>
          </a:p>
          <a:p>
            <a:r>
              <a:rPr sz="1100">
                <a:solidFill>
                  <a:srgbClr val="333333"/>
                </a:solidFill>
              </a:rPr>
              <a:t>   atomic write via tmp file (Lecture 3 — File type)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15AA0"/>
                </a:solidFill>
              </a:rPr>
              <a:t>Complexity (n users)</a:t>
            </a:r>
          </a:p>
          <a:p>
            <a:r>
              <a:rPr sz="1100">
                <a:solidFill>
                  <a:srgbClr val="333333"/>
                </a:solidFill>
              </a:rPr>
              <a:t>  Search by user_id   →   O(log n) avg, O(n) worst</a:t>
            </a:r>
          </a:p>
          <a:p>
            <a:r>
              <a:rPr sz="1100">
                <a:solidFill>
                  <a:srgbClr val="333333"/>
                </a:solidFill>
              </a:rPr>
              <a:t>  Search by username/email   →   O(1) avg</a:t>
            </a:r>
          </a:p>
          <a:p>
            <a:r>
              <a:rPr sz="1100">
                <a:solidFill>
                  <a:srgbClr val="333333"/>
                </a:solidFill>
              </a:rPr>
              <a:t>  Insert new user   →   O(log n) + O(n) 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5000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0A030"/>
                </a:solidFill>
              </a:rPr>
              <a:t>Key challenge</a:t>
            </a:r>
          </a:p>
          <a:p>
            <a:r>
              <a:rPr sz="1300" b="1">
                <a:solidFill>
                  <a:srgbClr val="333333"/>
                </a:solidFill>
              </a:rPr>
              <a:t>• Course constraint: no SGBD</a:t>
            </a:r>
          </a:p>
          <a:p>
            <a:r>
              <a:rPr sz="1100">
                <a:solidFill>
                  <a:srgbClr val="333333"/>
                </a:solidFill>
              </a:rPr>
              <a:t>   Lecture 3 only ships the File type — MySQL is out of the course scope.</a:t>
            </a:r>
          </a:p>
          <a:p>
            <a:r>
              <a:rPr sz="1300" b="1">
                <a:solidFill>
                  <a:srgbClr val="333333"/>
                </a:solidFill>
              </a:rPr>
              <a:t>• Course constraint: no web framework</a:t>
            </a:r>
          </a:p>
          <a:p>
            <a:r>
              <a:rPr sz="1100">
                <a:solidFill>
                  <a:srgbClr val="333333"/>
                </a:solidFill>
              </a:rPr>
              <a:t>   Flask / FastAPI are not taught — ruled out for authenticity.</a:t>
            </a:r>
          </a:p>
          <a:p>
            <a:r>
              <a:rPr sz="1300" b="1">
                <a:solidFill>
                  <a:srgbClr val="333333"/>
                </a:solidFill>
              </a:rPr>
              <a:t>• How we solved it</a:t>
            </a:r>
          </a:p>
          <a:p>
            <a:r>
              <a:rPr sz="1100">
                <a:solidFill>
                  <a:srgbClr val="333333"/>
                </a:solidFill>
              </a:rPr>
              <a:t>   Stack rebuilt with stdlib only: http.server + BST + hash maps + JSON. Every data structure is mapped to a precise lecture / lab citation.</a:t>
            </a:r>
          </a:p>
          <a:p>
            <a:r>
              <a:rPr sz="1300" b="1">
                <a:solidFill>
                  <a:srgbClr val="333333"/>
                </a:solidFill>
              </a:rPr>
              <a:t>• Trade-off</a:t>
            </a:r>
          </a:p>
          <a:p>
            <a:r>
              <a:rPr sz="1100">
                <a:solidFill>
                  <a:srgbClr val="333333"/>
                </a:solidFill>
              </a:rPr>
              <a:t>   Sessions are in-memory (lost on restart) and reads scan the BST. Acceptable today; will migrate to MySQL once the course covers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5AA0"/>
                </a:solidFill>
              </a:rPr>
              <a:t>Risks +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9400" y="1136273"/>
            <a:ext cx="7772400" cy="45000"/>
          </a:xfrm>
          <a:prstGeom prst="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9400" y="15000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0392B"/>
                </a:solidFill>
              </a:rPr>
              <a:t>What is not going well</a:t>
            </a:r>
          </a:p>
          <a:p>
            <a:r>
              <a:rPr sz="1300" b="1">
                <a:solidFill>
                  <a:srgbClr val="333333"/>
                </a:solidFill>
              </a:rPr>
              <a:t>• MySQL not yet integrated</a:t>
            </a:r>
          </a:p>
          <a:p>
            <a:r>
              <a:rPr sz="1100">
                <a:solidFill>
                  <a:srgbClr val="333333"/>
                </a:solidFill>
              </a:rPr>
              <a:t>   Course has not covered SQL — currently stored as JSON.</a:t>
            </a:r>
          </a:p>
          <a:p>
            <a:r>
              <a:rPr sz="1300" b="1">
                <a:solidFill>
                  <a:srgbClr val="333333"/>
                </a:solidFill>
              </a:rPr>
              <a:t>• No HTTPS / production deployment</a:t>
            </a:r>
          </a:p>
          <a:p>
            <a:r>
              <a:rPr sz="1100">
                <a:solidFill>
                  <a:srgbClr val="333333"/>
                </a:solidFill>
              </a:rPr>
              <a:t>   Out of scope for the course; plain HTTP for the demo.</a:t>
            </a:r>
          </a:p>
          <a:p>
            <a:r>
              <a:rPr sz="1300" b="1">
                <a:solidFill>
                  <a:srgbClr val="333333"/>
                </a:solidFill>
              </a:rPr>
              <a:t>• BFS / sorting / scoring not started</a:t>
            </a:r>
          </a:p>
          <a:p>
            <a:r>
              <a:rPr sz="1100">
                <a:solidFill>
                  <a:srgbClr val="333333"/>
                </a:solidFill>
              </a:rPr>
              <a:t>   Only the foundation (Login + storage) is shipped.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C0392B"/>
                </a:solidFill>
              </a:rPr>
              <a:t>Main risk for final delivery</a:t>
            </a:r>
          </a:p>
          <a:p>
            <a:r>
              <a:rPr sz="1100">
                <a:solidFill>
                  <a:srgbClr val="333333"/>
                </a:solidFill>
              </a:rPr>
              <a:t>Underestimating the integration cost between the social-graph module (BFS) and the timeline-ranking module (MergeSort) — need to freeze the User / Post data contract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000" y="15000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8B57"/>
                </a:solidFill>
              </a:rPr>
              <a:t>Next steps (priority order)</a:t>
            </a:r>
          </a:p>
          <a:p>
            <a:r>
              <a:rPr sz="1300" b="1">
                <a:solidFill>
                  <a:srgbClr val="333333"/>
                </a:solidFill>
              </a:rPr>
              <a:t>1. Social graph — Lecture 8 / LAB 6</a:t>
            </a:r>
          </a:p>
          <a:p>
            <a:r>
              <a:rPr sz="1100">
                <a:solidFill>
                  <a:srgbClr val="333333"/>
                </a:solidFill>
              </a:rPr>
              <a:t>   Adjacency list + BFS friends-within-k-hops.</a:t>
            </a:r>
          </a:p>
          <a:p>
            <a:r>
              <a:rPr sz="1300" b="1">
                <a:solidFill>
                  <a:srgbClr val="333333"/>
                </a:solidFill>
              </a:rPr>
              <a:t>2. Friend suggestion — LAB 8 + LAB 2</a:t>
            </a:r>
          </a:p>
          <a:p>
            <a:r>
              <a:rPr sz="1100">
                <a:solidFill>
                  <a:srgbClr val="333333"/>
                </a:solidFill>
              </a:rPr>
              <a:t>   BST traversal + mutual-friends Jaccard.</a:t>
            </a:r>
          </a:p>
          <a:p>
            <a:r>
              <a:rPr sz="1300" b="1">
                <a:solidFill>
                  <a:srgbClr val="333333"/>
                </a:solidFill>
              </a:rPr>
              <a:t>3. Timeline ranking — Lecture 9</a:t>
            </a:r>
          </a:p>
          <a:p>
            <a:r>
              <a:rPr sz="1100">
                <a:solidFill>
                  <a:srgbClr val="333333"/>
                </a:solidFill>
              </a:rPr>
              <a:t>   MergeSort by Proximity Score (slide 6).</a:t>
            </a:r>
          </a:p>
          <a:p>
            <a:r>
              <a:rPr sz="1300" b="1">
                <a:solidFill>
                  <a:srgbClr val="333333"/>
                </a:solidFill>
              </a:rPr>
              <a:t>4. Confidence threshold filter</a:t>
            </a:r>
          </a:p>
          <a:p>
            <a:r>
              <a:rPr sz="1100">
                <a:solidFill>
                  <a:srgbClr val="333333"/>
                </a:solidFill>
              </a:rPr>
              <a:t>   Hide posts under N likes from friends.</a:t>
            </a:r>
          </a:p>
          <a:p>
            <a:r>
              <a:rPr sz="1300" b="1">
                <a:solidFill>
                  <a:srgbClr val="333333"/>
                </a:solidFill>
              </a:rPr>
              <a:t>5. Web UI integration</a:t>
            </a:r>
          </a:p>
          <a:p>
            <a:r>
              <a:rPr sz="1100">
                <a:solidFill>
                  <a:srgbClr val="333333"/>
                </a:solidFill>
              </a:rPr>
              <a:t>   Connect frontend to the new endpoints.</a:t>
            </a:r>
          </a:p>
          <a:p>
            <a:pPr algn="r">
              <a:spcBef>
                <a:spcPts val="1000"/>
              </a:spcBef>
            </a:pPr>
            <a:r>
              <a:rPr sz="1200" b="1">
                <a:solidFill>
                  <a:srgbClr val="115AA0"/>
                </a:solidFill>
              </a:rPr>
              <a:t>Realistic, not optimistic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ep fond blanc">
  <a:themeElements>
    <a:clrScheme name="isep">
      <a:dk1>
        <a:sysClr val="windowText" lastClr="000000"/>
      </a:dk1>
      <a:lt1>
        <a:sysClr val="window" lastClr="FFFFFF"/>
      </a:lt1>
      <a:dk2>
        <a:srgbClr val="0061A1"/>
      </a:dk2>
      <a:lt2>
        <a:srgbClr val="E7E6E6"/>
      </a:lt2>
      <a:accent1>
        <a:srgbClr val="0061A1"/>
      </a:accent1>
      <a:accent2>
        <a:srgbClr val="4D90BD"/>
      </a:accent2>
      <a:accent3>
        <a:srgbClr val="B3D0E3"/>
      </a:accent3>
      <a:accent4>
        <a:srgbClr val="F4A100"/>
      </a:accent4>
      <a:accent5>
        <a:srgbClr val="EABD64"/>
      </a:accent5>
      <a:accent6>
        <a:srgbClr val="FCE3B3"/>
      </a:accent6>
      <a:hlink>
        <a:srgbClr val="0061A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sep fond binaire">
  <a:themeElements>
    <a:clrScheme name="isep">
      <a:dk1>
        <a:sysClr val="windowText" lastClr="000000"/>
      </a:dk1>
      <a:lt1>
        <a:sysClr val="window" lastClr="FFFFFF"/>
      </a:lt1>
      <a:dk2>
        <a:srgbClr val="0061A1"/>
      </a:dk2>
      <a:lt2>
        <a:srgbClr val="E7E6E6"/>
      </a:lt2>
      <a:accent1>
        <a:srgbClr val="0061A1"/>
      </a:accent1>
      <a:accent2>
        <a:srgbClr val="4D90BD"/>
      </a:accent2>
      <a:accent3>
        <a:srgbClr val="B3D0E3"/>
      </a:accent3>
      <a:accent4>
        <a:srgbClr val="F4A100"/>
      </a:accent4>
      <a:accent5>
        <a:srgbClr val="EABD64"/>
      </a:accent5>
      <a:accent6>
        <a:srgbClr val="FCE3B3"/>
      </a:accent6>
      <a:hlink>
        <a:srgbClr val="0061A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13B63BFA14324BAC551B120A4F5DAA" ma:contentTypeVersion="10" ma:contentTypeDescription="Crée un document." ma:contentTypeScope="" ma:versionID="2a33ad466beb3658a212a34020bbade2">
  <xsd:schema xmlns:xsd="http://www.w3.org/2001/XMLSchema" xmlns:xs="http://www.w3.org/2001/XMLSchema" xmlns:p="http://schemas.microsoft.com/office/2006/metadata/properties" xmlns:ns2="e0b8407e-2f91-4a73-934b-023c2c41c116" xmlns:ns3="c5be5e68-1acc-4e33-9043-1a7328a22df5" targetNamespace="http://schemas.microsoft.com/office/2006/metadata/properties" ma:root="true" ma:fieldsID="54a2aa682d62e5c8f4eb16eb50227f1d" ns2:_="" ns3:_="">
    <xsd:import namespace="e0b8407e-2f91-4a73-934b-023c2c41c116"/>
    <xsd:import namespace="c5be5e68-1acc-4e33-9043-1a7328a22d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8407e-2f91-4a73-934b-023c2c41c1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a337c0f8-57ca-4de5-b31c-15c7ec7d57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be5e68-1acc-4e33-9043-1a7328a22df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8328e4f-1600-4bc1-8b63-f2f02f29416f}" ma:internalName="TaxCatchAll" ma:showField="CatchAllData" ma:web="c5be5e68-1acc-4e33-9043-1a7328a22d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0b8407e-2f91-4a73-934b-023c2c41c116">
      <Terms xmlns="http://schemas.microsoft.com/office/infopath/2007/PartnerControls"/>
    </lcf76f155ced4ddcb4097134ff3c332f>
    <TaxCatchAll xmlns="c5be5e68-1acc-4e33-9043-1a7328a22df5" xsi:nil="true"/>
  </documentManagement>
</p:properties>
</file>

<file path=customXml/itemProps1.xml><?xml version="1.0" encoding="utf-8"?>
<ds:datastoreItem xmlns:ds="http://schemas.openxmlformats.org/officeDocument/2006/customXml" ds:itemID="{BF964204-BCF2-4244-875E-CEA6C90370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F6626E-E4AD-4D87-A0A7-853419E1E670}"/>
</file>

<file path=customXml/itemProps3.xml><?xml version="1.0" encoding="utf-8"?>
<ds:datastoreItem xmlns:ds="http://schemas.openxmlformats.org/officeDocument/2006/customXml" ds:itemID="{C9DFC1FB-4EE1-4DEA-AAF0-1CF2AB1153E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976</TotalTime>
  <Words>484</Words>
  <Application>Microsoft Office PowerPoint</Application>
  <PresentationFormat>On-screen Show (4:3)</PresentationFormat>
  <Paragraphs>61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isep fond blanc</vt:lpstr>
      <vt:lpstr>1_isep fond binaire</vt:lpstr>
      <vt:lpstr>Name of your Social Network</vt:lpstr>
      <vt:lpstr>Slogan of your Social Network</vt:lpstr>
      <vt:lpstr>What?</vt:lpstr>
      <vt:lpstr>Why?</vt:lpstr>
      <vt:lpstr>Specifications - Architecture</vt:lpstr>
      <vt:lpstr>Services</vt:lpstr>
      <vt:lpstr>Main Algorithms</vt:lpstr>
      <vt:lpstr>Development Environment</vt:lpstr>
      <vt:lpstr>Project Planning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JMP</dc:creator>
  <cp:lastModifiedBy>Ammar KHEIRBEK</cp:lastModifiedBy>
  <cp:revision>908</cp:revision>
  <cp:lastPrinted>2021-04-26T13:50:30Z</cp:lastPrinted>
  <dcterms:created xsi:type="dcterms:W3CDTF">2015-03-02T09:36:05Z</dcterms:created>
  <dcterms:modified xsi:type="dcterms:W3CDTF">2026-03-23T17:44:39Z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0x0101009D13B63BFA14324BAC551B120A4F5DAA</vt:lpwstr>
  </property>
</Properties>
</file>